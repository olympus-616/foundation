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759BAC-4A55-499F-B46F-D23B10C6EE10}">
  <a:tblStyle styleId="{1E759BAC-4A55-499F-B46F-D23B10C6EE1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3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548640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OLYMPUS-GRID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Sovereign AI Infrastructure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3200400" y="42062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Series 1 Redeemable Preferred Units  —  $2,000,000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CONFIDENTIAL  —  March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AI requires surrender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80" y="1554480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005840" y="162763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Leaves Your Control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05840" y="1938528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major AI platform requires sending your data to external servers. For regulated industries, this creates unacceptable compliance risk.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0080" y="2651760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05840" y="272491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Vendor Lock-In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05840" y="3035808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Once you build on OpenAI or Google, switching costs are enormous. Your AI strategy becomes hostage to someone else’s pricing and policy decisions.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40080" y="3749040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005840" y="382219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Sovereignty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05840" y="4133088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You can’t choose your model, your deployment, or your terms. The platform decides what you can do with your own intelligence.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THE SOLUTION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Your hardware. Your models. Your data. Your grid.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40080" y="1508760"/>
            <a:ext cx="3749040" cy="13716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40080" y="1508760"/>
            <a:ext cx="3749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868680" y="16916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Deploy Anywhere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68680" y="20116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Identical deployment on laptop, private cloud, or AWS. Zero code changes. Your infrastructure, your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754880" y="1508760"/>
            <a:ext cx="3749040" cy="13716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754880" y="1508760"/>
            <a:ext cx="3749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983480" y="16916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Choose Your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983480" y="20116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 any model — local (Ollama), cloud (Anthropic, OpenAI, Bedrock), or custom. Switch providers without rewriting anything.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" y="3063240"/>
            <a:ext cx="3749040" cy="13716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40080" y="3063240"/>
            <a:ext cx="3749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68680" y="32461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Connect Securely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68680" y="35661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OAuth-authorized connections to Salesforce, Google, HubSpot. Your AI accesses your enterprise data with your permission, revocable at any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754880" y="3063240"/>
            <a:ext cx="3749040" cy="13716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754880" y="3063240"/>
            <a:ext cx="3749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983480" y="32461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Own Everything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983480" y="35661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byte of data stays under your control. Export everything, always. No vendor can hold your intelligence hostage.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EXISTS TODAY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4 years of development. Working technology.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1463040"/>
            <a:ext cx="1965960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457200" y="164592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31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22860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Services Online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94360" y="274320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Complete service mesh with health monitoring and self-healing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606040" y="1463040"/>
            <a:ext cx="1965960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2606040" y="164592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606040" y="22860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Years Built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743200" y="274320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Solo-engineered by a Salesforce CTA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754880" y="1463040"/>
            <a:ext cx="1965960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754880" y="164592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754880" y="22860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Code Changes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892040" y="274320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Deploy local → cloud with identical codebase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903720" y="1463040"/>
            <a:ext cx="1965960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903720" y="164592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903720" y="22860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iPhone 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040880" y="274320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TurtleShell.ai — ready for App 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Demonstrated: iPhone → Service Mesh → Salesforce OAuth → AI Response → Streaming to Device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THE FOUNDER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640080" y="118872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005840" y="12344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Salesforce CTA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005840" y="153619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Certified Technical Architect — highest Salesforce certification. Fewer than 500 globally.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640080" y="210312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005840" y="21488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Prior Exit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005840" y="245059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Co-founded a Salesforce ISV that was successfully acquired by a marketing automation firm.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005840" y="30632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Enterprise Architect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005840" y="336499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Decade of architecture for healthcare, life sciences, and financial services in regulated environments.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40080" y="3931920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005840" y="39776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Solo Builder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005840" y="427939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Designed and deployed 31-service platform, iOS app, and enterprise integrations as a single engineer over 4 years.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REVENUE MODEL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CONSUMER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15544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TurtleShell.ai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914400" y="201168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—  Download, explore, connect</a:t>
            </a: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  $19.99/mo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—  Cloud AI, advanced features</a:t>
            </a: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Sovereign  $49.99/mo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—  Local AI, full data sovereignty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40080" y="41148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Y3 Target: 6,860 paid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ENTERPRISE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754880" y="15544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Olympus Grid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029200" y="201168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Starter  $500/mo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—  Small teams, basic MCP</a:t>
            </a: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Professional  $2,500/mo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—  Mid-market, full integration</a:t>
            </a: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Custom  $7,500/mo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—  Dedicated deploy + SLA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754880" y="41148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Y3 Target: 55 enterprise clients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FINANCIAL PROJECTIONS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502920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/>
          <p:nvPr/>
        </p:nvSpPr>
        <p:spPr>
          <a:xfrm>
            <a:off x="5760720" y="1188720"/>
            <a:ext cx="292608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5760720" y="12344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$4.73M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760720" y="16459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3-Year 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760720" y="2103120"/>
            <a:ext cx="292608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5760720" y="21488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$4.49M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5760720" y="25603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M36 Annualized Run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760720" y="3017520"/>
            <a:ext cx="292608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760720" y="30632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$3.26M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760720" y="34747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M36 Cash Position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760720" y="3931920"/>
            <a:ext cx="292608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5760720" y="39776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$331K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760720" y="4389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3-Year Tithe to 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INVESTMENT STRUCTURE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Series 1 Redeemable Preferred Units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Note: Tithe Covenant (7%) is senior to all distributions including preferred returns.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Issuer: CloudPremise LLC (CO) → Delaware C-Corp within 90 days. Units convert to Class C (Non-Voting) automatically.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57200" y="1463040"/>
            <a:ext cx="2697480" cy="1508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457200" y="155448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INVESTMENT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57200" y="18288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$2,000,000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57200" y="24231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Series 1 Redeemable Preferred Units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3337560" y="1463040"/>
            <a:ext cx="2697480" cy="1508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3337560" y="155448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3337560" y="18288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$20M Pre-Money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3337560" y="24231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10% economic interest, 0% voting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217920" y="1463040"/>
            <a:ext cx="2697480" cy="1508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6217920" y="155448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217920" y="18288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8% + Premium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217920" y="24231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Cumulative preferred + 10–20% premium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57200" y="3154680"/>
            <a:ext cx="2697480" cy="1508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457200" y="324612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457200" y="352044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36 Months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457200" y="41148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Mandatory redemption — interest terminates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3337560" y="3154680"/>
            <a:ext cx="2697480" cy="1508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3337560" y="324612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337560" y="352044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Zero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3337560" y="41148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votes, no board, no consent rights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217920" y="3154680"/>
            <a:ext cx="2697480" cy="15087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6217920" y="324612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MAX PAYOUT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6217920" y="352044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$2,880,000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217920" y="41148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44% total return at Month 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INVESTOR RETURNS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1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{1E759BAC-4A55-499F-B46F-D23B10C6EE10}</a:tableStyleId>
              </a:tblPr>
              <a:tblGrid>
                <a:gridCol w="1371600"/>
                <a:gridCol w="1463050"/>
                <a:gridCol w="1828800"/>
                <a:gridCol w="1737350"/>
                <a:gridCol w="14630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 Return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Premium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Payout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Return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$200,000 (10%)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$2,360,000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24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$320,000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$300,000 (15%)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$2,620,000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36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$480,000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$400,000 (20%)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$2,880,000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11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vs. Alternative Investments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S&amp;P 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2560320" y="3794760"/>
            <a:ext cx="1371600" cy="182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4023360" y="37490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~10%/yr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Real Estate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2560320" y="4114800"/>
            <a:ext cx="1371600" cy="182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4023360" y="4069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~10%/yr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40080" y="4389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Private Credit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2560320" y="4434840"/>
            <a:ext cx="1645920" cy="182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4297680" y="4389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~12%/yr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40080" y="4709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This Investment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2560320" y="4754880"/>
            <a:ext cx="2926080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5577840" y="4709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~15%/yr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32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TITHE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7¢ of every dollar. Forever.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51A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1005840" y="169164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7% of recognized gross revenue flows to the Olympus Foundation — irrevocable, encoded in the charter, non-negotiable.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371600" y="2377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$1M revenue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3474720" y="2377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3931920" y="2377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$70K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576072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 the Foundation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371600" y="2834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$10M revenue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3474720" y="28346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3931920" y="2834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$700K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760720" y="2834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 the Foundation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37160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$100M revenue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474720" y="3291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3931920" y="3291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$7M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760720" y="32918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annually, in perpetuity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Your capital doesn’t just generate returns. It generates impact.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Priority: Tithe is senior to all other distributions, including investor preferred returns.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USE OF FUNDS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384048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3"/>
          <p:cNvSpPr/>
          <p:nvPr/>
        </p:nvSpPr>
        <p:spPr>
          <a:xfrm>
            <a:off x="4480560" y="1188720"/>
            <a:ext cx="420624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4663440" y="12344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~50%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5394960" y="1234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Product &amp;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394960" y="15544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hires over 14 months. Platform hardening, App Store launch, integration expansion.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4480560" y="2103120"/>
            <a:ext cx="420624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4663440" y="21488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~25%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5394960" y="21488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Go-to-Market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5394960" y="2468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Enterprise sales, AppExchange, paid acquisition ramp in Year 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480560" y="3017520"/>
            <a:ext cx="420624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4663440" y="30632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~15%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5394960" y="30632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Operations &amp; Legal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394960" y="33832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C-Corp formation, securities counsel, compliance.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480560" y="3931920"/>
            <a:ext cx="4206240" cy="77724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4663440" y="39776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~10%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5394960" y="39776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Georgia"/>
                <a:ea typeface="Georgia"/>
                <a:cs typeface="Georgia"/>
                <a:sym typeface="Georgia"/>
              </a:rPr>
              <a:t>Reserve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5394960" y="42976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Working capital buffer for a 36-month timeline.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THIS INVESTMENT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640080" y="1188720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1005840" y="12161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Technology Exists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005840" y="149047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years built. 31 services. Working end-to-end demos. This is not a concept.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40080" y="1938528"/>
            <a:ext cx="786384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640080" y="1938528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1005840" y="1965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Market Is Ready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1005840" y="22402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Enterprise AI adoption meets regulatory demand for sovereignty. Perfect timing.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640080" y="2688336"/>
            <a:ext cx="786384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640080" y="2688336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1005840" y="27157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Founder Is Credible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005840" y="29900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CTA, prior exit, decade of regulated enterprise architecture.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640080" y="3438144"/>
            <a:ext cx="786384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640080" y="3438144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1005840" y="346557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Structure Protects You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1005840" y="3739896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Fixed returns, mandatory redemption, liquidation preference. No surprises.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640080" y="4187952"/>
            <a:ext cx="786384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640080" y="4187952"/>
            <a:ext cx="54864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1005840" y="421538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Impact Is Real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1005840" y="4489704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7% of gross revenue, forever, to eliminate human suffering.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328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73152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grid is sovereign.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The tithe is eternal.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work begins.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5"/>
          <p:cNvCxnSpPr/>
          <p:nvPr/>
        </p:nvCxnSpPr>
        <p:spPr>
          <a:xfrm>
            <a:off x="3200400" y="4297680"/>
            <a:ext cx="2743200" cy="0"/>
          </a:xfrm>
          <a:prstGeom prst="straightConnector1">
            <a:avLst/>
          </a:prstGeom>
          <a:noFill/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CloudPremise LLC  |  cloudpremise.com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